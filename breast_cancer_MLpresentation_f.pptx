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3" r:id="rId5"/>
    <p:sldId id="263" r:id="rId6"/>
    <p:sldId id="265" r:id="rId7"/>
    <p:sldId id="274" r:id="rId8"/>
    <p:sldId id="264" r:id="rId9"/>
    <p:sldId id="270" r:id="rId10"/>
    <p:sldId id="275" r:id="rId11"/>
    <p:sldId id="272" r:id="rId12"/>
    <p:sldId id="277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36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A68AF-2A32-4E47-AD5F-33C9B8FAB20E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1785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E05E0-0B10-F68C-5574-2D273AD1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4B6BF-5749-3C63-6371-40F5C614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15580-7935-C367-A81D-3F2FBFD32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612EB-E077-0BBD-F049-CC1166DB0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A68AF-2A32-4E47-AD5F-33C9B8FAB20E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4895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52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527C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Picture 13" descr="The image depicts a comparison between benign tumors, malignant tumors, and normal cells, illustrating the differences in cell structure and organization.&#10;&#10;AI-generated content may be incorrect.">
            <a:extLst>
              <a:ext uri="{FF2B5EF4-FFF2-40B4-BE49-F238E27FC236}">
                <a16:creationId xmlns:a16="http://schemas.microsoft.com/office/drawing/2014/main" id="{86758006-C26B-0E8E-CF45-461CACDF18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9619" y="-1"/>
            <a:ext cx="10832456" cy="69183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234440"/>
            <a:ext cx="12191694" cy="6205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ptos"/>
              </a:defRPr>
            </a:pPr>
            <a:r>
              <a:rPr lang="en-GB" sz="4400" b="1" dirty="0">
                <a:solidFill>
                  <a:srgbClr val="000000"/>
                </a:solidFill>
              </a:rPr>
              <a:t> Predicting Breast Cancer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68" y="1872623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000000"/>
                </a:solidFill>
                <a:latin typeface="Aptos"/>
              </a:defRPr>
            </a:pPr>
            <a:r>
              <a:rPr lang="en-GB" sz="2300" b="0" dirty="0">
                <a:solidFill>
                  <a:srgbClr val="000000"/>
                </a:solidFill>
              </a:rPr>
              <a:t> Supervised classification and the </a:t>
            </a:r>
            <a:r>
              <a:rPr lang="en-GB" sz="2300" b="0" dirty="0" err="1">
                <a:solidFill>
                  <a:srgbClr val="000000"/>
                </a:solidFill>
              </a:rPr>
              <a:t>kNN</a:t>
            </a:r>
            <a:r>
              <a:rPr lang="en-GB" sz="2300" b="0" dirty="0">
                <a:solidFill>
                  <a:srgbClr val="000000"/>
                </a:solidFill>
              </a:rPr>
              <a:t> bias–variance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736" y="5195000"/>
            <a:ext cx="9875520" cy="9509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DA7067 Computational Mathematics ML exercise</a:t>
            </a:r>
            <a:endParaRPr lang="en-GB" dirty="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Stockholm University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000000"/>
                </a:solidFill>
                <a:latin typeface="Aptos"/>
              </a:defRPr>
            </a:pPr>
            <a:r>
              <a:rPr lang="en-GB" sz="1500" b="0" dirty="0">
                <a:solidFill>
                  <a:srgbClr val="000000"/>
                </a:solidFill>
              </a:rPr>
              <a:t>October 2026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3368" y="481095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ptos"/>
              </a:defRPr>
            </a:pPr>
            <a:r>
              <a:rPr lang="en-GB" sz="2100" b="1" dirty="0">
                <a:solidFill>
                  <a:srgbClr val="000000"/>
                </a:solidFill>
              </a:rPr>
              <a:t>Onyinyechi Sonia Bäckström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Research question and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GB" sz="2800" b="1">
                <a:solidFill>
                  <a:srgbClr val="1C2F4A"/>
                </a:solidFill>
              </a:rPr>
              <a:t>Can benign vs. malignant diagnosis be predicted from numerical cell-nucleus measurements?</a:t>
            </a:r>
          </a:p>
        </p:txBody>
      </p:sp>
      <p:sp>
        <p:nvSpPr>
          <p:cNvPr id="5" name="Reflowed text"/>
          <p:cNvSpPr txBox="1"/>
          <p:nvPr/>
        </p:nvSpPr>
        <p:spPr>
          <a:xfrm>
            <a:off x="731520" y="2862072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This is supervised binary classification: 30 numerical features are used to predict one of two known labels, benign (B) or malignant (M).</a:t>
            </a:r>
            <a:endParaRPr lang="en-SE" sz="2300" b="0">
              <a:solidFill>
                <a:srgbClr val="283038"/>
              </a:solidFill>
            </a:endParaRPr>
          </a:p>
        </p:txBody>
      </p:sp>
      <p:sp>
        <p:nvSpPr>
          <p:cNvPr id="6" name="Reflowed text"/>
          <p:cNvSpPr txBox="1"/>
          <p:nvPr/>
        </p:nvSpPr>
        <p:spPr>
          <a:xfrm>
            <a:off x="731520" y="4178808"/>
            <a:ext cx="10607040" cy="941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The model learns patterns from labelled examples rather than relying on manually written rules.</a:t>
            </a:r>
            <a:endParaRPr lang="en-SE" sz="2300" b="0">
              <a:solidFill>
                <a:srgbClr val="283038"/>
              </a:solidFill>
            </a:endParaRPr>
          </a:p>
        </p:txBody>
      </p:sp>
      <p:sp>
        <p:nvSpPr>
          <p:cNvPr id="7" name="Reflowed text"/>
          <p:cNvSpPr txBox="1"/>
          <p:nvPr/>
        </p:nvSpPr>
        <p:spPr>
          <a:xfrm>
            <a:off x="731520" y="542239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The report examines predictive performance and how kNN’s k affects generalisation.</a:t>
            </a:r>
            <a:endParaRPr lang="en-SE" sz="23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4709160" cy="4937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Breast Cancer Wisconsin (Diagnostic), UCI Machine Learning Repository; loaded from </a:t>
            </a:r>
            <a:r>
              <a:rPr lang="en-GB" sz="2200" b="0" err="1"/>
              <a:t>wdbc.data</a:t>
            </a:r>
            <a:r>
              <a:rPr lang="en-GB" sz="2200" b="0"/>
              <a:t>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569 samples and 30 numerical features after removing patient ID.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Measurements describe cell-nucleus characteristics as mean, standard error, and worst values.</a:t>
            </a:r>
            <a:endParaRPr lang="en-GB" sz="2400"/>
          </a:p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20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/>
              <a:t>357 benign (63%) and 212 malignant (37%).</a:t>
            </a:r>
          </a:p>
        </p:txBody>
      </p:sp>
      <p:pic>
        <p:nvPicPr>
          <p:cNvPr id="8" name="Picture 7" descr="The image shows a bar chart with two bars representing the number of benign (357) and malignant (350) cases, indicating a nearly equal distribution of diagnoses.&#10;&#10;AI-generated content may be incorrect.">
            <a:extLst>
              <a:ext uri="{FF2B5EF4-FFF2-40B4-BE49-F238E27FC236}">
                <a16:creationId xmlns:a16="http://schemas.microsoft.com/office/drawing/2014/main" id="{DDD24631-09C1-D79E-3397-1F128EB15A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 useA="0">
              <a:clrFrom>
                <a:srgbClr val="52885C"/>
              </a:clrFrom>
              <a:clrTo>
                <a:srgbClr val="227DB5"/>
              </a:clrTo>
            </a:clrChange>
            <a:clrChange useA="0">
              <a:clrFrom>
                <a:srgbClr val="E46E51"/>
              </a:clrFrom>
              <a:clrTo>
                <a:srgbClr val="D66B9A"/>
              </a:clrTo>
            </a:clrChange>
          </a:blip>
          <a:srcRect t="1227" b="1534"/>
          <a:stretch>
            <a:fillRect/>
          </a:stretch>
        </p:blipFill>
        <p:spPr>
          <a:xfrm>
            <a:off x="5788152" y="1975711"/>
            <a:ext cx="5669280" cy="3510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Train/test split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88136"/>
            <a:ext cx="1074420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ptos"/>
              </a:defRPr>
            </a:pPr>
            <a:r>
              <a:rPr lang="en-GB" sz="1800"/>
              <a:t>Same stratified split used for all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3611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Train: 455 samples (80%); test: 114 samples (20%).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Stratified split with random_state = 42.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Baseline predicts the most frequent class from the training set.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Logistic regression and kNN use standardized features; scaler is fitted only on training data.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defRPr sz="2300" b="0">
                <a:solidFill>
                  <a:srgbClr val="283038"/>
                </a:solidFill>
                <a:latin typeface="Aptos"/>
              </a:defRPr>
            </a:pPr>
            <a:r>
              <a:rPr lang="en-GB" sz="2300" b="0"/>
              <a:t>•  kNN evaluated for k = 1, 2, …, 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Train /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58155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SE" sz="2300" b="1"/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5696712"/>
            <a:ext cx="2167128" cy="594360"/>
          </a:xfrm>
          <a:prstGeom prst="roundRect">
            <a:avLst/>
          </a:prstGeom>
          <a:solidFill>
            <a:srgbClr val="F3F3F3"/>
          </a:solidFill>
          <a:ln>
            <a:solidFill>
              <a:srgbClr val="1C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1744" y="5852160"/>
            <a:ext cx="19842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C2F4A"/>
                </a:solidFill>
                <a:latin typeface="Aptos"/>
              </a:defRPr>
            </a:pPr>
            <a:r>
              <a:rPr lang="en-GB" sz="1700" b="1"/>
              <a:t>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27048"/>
            <a:ext cx="3977639" cy="10881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lang="en-GB" sz="2200" b="0">
                <a:solidFill>
                  <a:srgbClr val="283038"/>
                </a:solidFill>
              </a:rPr>
              <a:t>Baseline (always predicts benign): 63.16% accuracy; 36.84% error.</a:t>
            </a:r>
            <a:endParaRPr lang="en-GB" sz="2400"/>
          </a:p>
        </p:txBody>
      </p:sp>
      <p:pic>
        <p:nvPicPr>
          <p:cNvPr id="6" name="Picture 5" descr="accuracy_comparison_report.png">
            <a:extLst>
              <a:ext uri="{FF2B5EF4-FFF2-40B4-BE49-F238E27FC236}">
                <a16:creationId xmlns:a16="http://schemas.microsoft.com/office/drawing/2014/main" id="{C7E4F9F7-0F91-9AED-877C-A59B0AF6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 useA="0">
              <a:clrFrom>
                <a:srgbClr val="1F77B4"/>
              </a:clrFrom>
              <a:clrTo>
                <a:srgbClr val="D66B9A"/>
              </a:clrTo>
            </a:clrChange>
          </a:blip>
          <a:srcRect/>
          <a:stretch>
            <a:fillRect/>
          </a:stretch>
        </p:blipFill>
        <p:spPr>
          <a:xfrm>
            <a:off x="5074920" y="1579072"/>
            <a:ext cx="6382512" cy="3727287"/>
          </a:xfrm>
          <a:prstGeom prst="rect">
            <a:avLst/>
          </a:prstGeom>
        </p:spPr>
      </p:pic>
      <p:sp>
        <p:nvSpPr>
          <p:cNvPr id="7" name="Reflowed text"/>
          <p:cNvSpPr txBox="1"/>
          <p:nvPr/>
        </p:nvSpPr>
        <p:spPr>
          <a:xfrm>
            <a:off x="731520" y="5513832"/>
            <a:ext cx="10744200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1">
                <a:solidFill>
                  <a:srgbClr val="1C2F4A"/>
                </a:solidFill>
                <a:latin typeface="Aptos"/>
              </a:defRPr>
            </a:pPr>
            <a:r>
              <a:rPr sz="2300" b="1">
                <a:solidFill>
                  <a:srgbClr val="1C2F4A"/>
                </a:solidFill>
              </a:rPr>
              <a:t>Logistic regression performed best on this split, though the difference from </a:t>
            </a:r>
            <a:r>
              <a:rPr sz="2300" b="1" err="1">
                <a:solidFill>
                  <a:srgbClr val="1C2F4A"/>
                </a:solidFill>
              </a:rPr>
              <a:t>kNN</a:t>
            </a:r>
            <a:r>
              <a:rPr sz="2300" b="1">
                <a:solidFill>
                  <a:srgbClr val="1C2F4A"/>
                </a:solidFill>
              </a:rPr>
              <a:t> was small.</a:t>
            </a:r>
            <a:endParaRPr lang="en-SE" sz="2300" b="1">
              <a:solidFill>
                <a:srgbClr val="1C2F4A"/>
              </a:solidFill>
            </a:endParaRPr>
          </a:p>
        </p:txBody>
      </p:sp>
      <p:sp>
        <p:nvSpPr>
          <p:cNvPr id="8" name="Reflowed text"/>
          <p:cNvSpPr txBox="1"/>
          <p:nvPr/>
        </p:nvSpPr>
        <p:spPr>
          <a:xfrm>
            <a:off x="731520" y="2871216"/>
            <a:ext cx="397763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sz="2200" b="0">
                <a:solidFill>
                  <a:srgbClr val="283038"/>
                </a:solidFill>
              </a:rPr>
              <a:t>Logistic regression: 96.49% accuracy; 3.51% error.</a:t>
            </a:r>
            <a:endParaRPr lang="en-GB" sz="2400"/>
          </a:p>
        </p:txBody>
      </p:sp>
      <p:sp>
        <p:nvSpPr>
          <p:cNvPr id="9" name="Reflowed text"/>
          <p:cNvSpPr txBox="1"/>
          <p:nvPr/>
        </p:nvSpPr>
        <p:spPr>
          <a:xfrm>
            <a:off x="731520" y="3995928"/>
            <a:ext cx="397763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200" b="0">
                <a:solidFill>
                  <a:srgbClr val="283038"/>
                </a:solidFill>
                <a:latin typeface="Aptos"/>
              </a:defRPr>
            </a:pPr>
            <a:r>
              <a:rPr sz="2200" b="0" err="1">
                <a:solidFill>
                  <a:srgbClr val="283038"/>
                </a:solidFill>
              </a:rPr>
              <a:t>kNN</a:t>
            </a:r>
            <a:r>
              <a:rPr sz="2200" b="0">
                <a:solidFill>
                  <a:srgbClr val="283038"/>
                </a:solidFill>
              </a:rPr>
              <a:t> (k=5): 95.61% accuracy; 4.39% error.</a:t>
            </a:r>
            <a:endParaRPr lang="en-GB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Confusion matrix displays</a:t>
            </a:r>
          </a:p>
        </p:txBody>
      </p:sp>
      <p:pic>
        <p:nvPicPr>
          <p:cNvPr id="4" name="Picture 3" descr="confusion_matrices_repor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2547443"/>
            <a:ext cx="10725912" cy="3226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ptos"/>
              </a:defRPr>
            </a:pPr>
            <a:r>
              <a:rPr lang="en-GB" sz="1600"/>
              <a:t>Rows show actual classes; columns show predicted classes.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B81FE-E5BF-6DE4-32CB-BA8E19C56A79}"/>
              </a:ext>
            </a:extLst>
          </p:cNvPr>
          <p:cNvSpPr txBox="1"/>
          <p:nvPr/>
        </p:nvSpPr>
        <p:spPr>
          <a:xfrm>
            <a:off x="731520" y="135331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>
                <a:solidFill>
                  <a:srgbClr val="1C2F4A"/>
                </a:solidFill>
              </a:rPr>
              <a:t>Logistic regression detected 39/42 malignant cases; </a:t>
            </a:r>
            <a:r>
              <a:rPr lang="en-GB" sz="2300" b="1" err="1">
                <a:solidFill>
                  <a:srgbClr val="1C2F4A"/>
                </a:solidFill>
              </a:rPr>
              <a:t>kNN</a:t>
            </a:r>
            <a:r>
              <a:rPr lang="en-GB" sz="2300" b="1">
                <a:solidFill>
                  <a:srgbClr val="1C2F4A"/>
                </a:solidFill>
              </a:rPr>
              <a:t> detected 38/42. Baseline detected none.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Classification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06424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ptos"/>
              </a:defRPr>
            </a:pPr>
            <a:r>
              <a:rPr lang="en-GB" sz="1800"/>
              <a:t>Malignant-class metrics (M)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47088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1847088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1847088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F4A"/>
                </a:solidFill>
                <a:latin typeface="Aptos"/>
              </a:defRPr>
            </a:pPr>
            <a:r>
              <a:rPr lang="en-GB" sz="2000" b="1"/>
              <a:t>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83038"/>
                </a:solidFill>
                <a:latin typeface="Aptos"/>
              </a:defRPr>
            </a:pPr>
            <a:r>
              <a:rPr lang="en-GB" sz="2300" b="1"/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88336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688336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2688336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9584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/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9584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3529584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3529584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SE" sz="2800" b="1"/>
              <a:t>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2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83038"/>
                </a:solidFill>
                <a:latin typeface="Aptos"/>
              </a:defRPr>
            </a:pPr>
            <a:r>
              <a:rPr lang="en-GB" sz="2300" b="1"/>
              <a:t>kNN (k=5)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2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4370832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4370832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83038"/>
                </a:solidFill>
                <a:latin typeface="Aptos"/>
              </a:defRPr>
            </a:pPr>
            <a:r>
              <a:rPr lang="en-SE" sz="2800" b="0"/>
              <a:t>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41264"/>
            <a:ext cx="10698480" cy="8138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83038"/>
                </a:solidFill>
                <a:latin typeface="Aptos"/>
              </a:defRPr>
            </a:pPr>
            <a:r>
              <a:rPr lang="en-GB" sz="2200" b="1"/>
              <a:t>Recall is important because a false negative is a malignant case predicted as benign.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Bias–variance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730752" cy="4709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k = 1: training error is 0; test error ≈ 0.070- likely overfitting.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k = 2: test error peaks at about 0.088.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For k &gt; 20: training error rises and the errors become closer; risk of underfitting.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Lowest test error ≈ 0.044 at k = 5 and k = 7; choose k = 5 as a tie-break.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None/>
              <a:defRPr sz="1950" b="0">
                <a:solidFill>
                  <a:srgbClr val="283038"/>
                </a:solidFill>
                <a:latin typeface="Aptos"/>
              </a:defRPr>
            </a:pPr>
            <a:r>
              <a:rPr lang="en-GB" sz="1950" b="0"/>
              <a:t>Use cross-validation to choose k in a more reliable evaluation.</a:t>
            </a:r>
          </a:p>
        </p:txBody>
      </p:sp>
      <p:pic>
        <p:nvPicPr>
          <p:cNvPr id="10" name="Picture 9" descr="The image depicts a graph illustrating the k-nearest neighbors (kNN) algorithm's performance, showing a decreasing trend in both training and test error rates as the number of neighbors (k) increases, indicating improved accuracy.&#10;&#10;AI-generated content may be incorrect.">
            <a:extLst>
              <a:ext uri="{FF2B5EF4-FFF2-40B4-BE49-F238E27FC236}">
                <a16:creationId xmlns:a16="http://schemas.microsoft.com/office/drawing/2014/main" id="{E886B4DE-A19E-01D2-F02D-EF68E4BD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29526" y="1755648"/>
            <a:ext cx="6716683" cy="4617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A0BFCF-E6AA-43E4-544F-43E95DD8C475}"/>
              </a:ext>
            </a:extLst>
          </p:cNvPr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666666"/>
                </a:solidFill>
              </a:defRPr>
            </a:pPr>
            <a:r>
              <a:rPr lang="en-GB" sz="1800" err="1"/>
              <a:t>kNN</a:t>
            </a:r>
            <a:r>
              <a:rPr lang="en-GB" sz="1800"/>
              <a:t> evaluated for k = 1, 2, …,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What I would trust the model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07040" cy="11338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800" b="1">
                <a:solidFill>
                  <a:srgbClr val="1C2F4A"/>
                </a:solidFill>
                <a:latin typeface="Aptos"/>
              </a:defRPr>
            </a:pPr>
            <a:r>
              <a:rPr lang="en-GB" sz="2800" b="1">
                <a:solidFill>
                  <a:srgbClr val="1C2F4A"/>
                </a:solidFill>
              </a:rPr>
              <a:t>Use it as a screening aid to flag likely malignant cases for a clinician to review.</a:t>
            </a:r>
            <a:endParaRPr lang="en-GB" sz="2400"/>
          </a:p>
        </p:txBody>
      </p:sp>
      <p:sp>
        <p:nvSpPr>
          <p:cNvPr id="5" name="Reflowed text"/>
          <p:cNvSpPr txBox="1"/>
          <p:nvPr/>
        </p:nvSpPr>
        <p:spPr>
          <a:xfrm>
            <a:off x="731520" y="2862072"/>
            <a:ext cx="10607040" cy="941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On this test split, accuracy was about 96%; malignant recall was 0.93 for logistic regression and 0.90 for </a:t>
            </a:r>
            <a:r>
              <a:rPr sz="2300" b="0" err="1">
                <a:solidFill>
                  <a:srgbClr val="283038"/>
                </a:solidFill>
              </a:rPr>
              <a:t>kNN</a:t>
            </a:r>
            <a:r>
              <a:rPr sz="2300" b="0">
                <a:solidFill>
                  <a:srgbClr val="283038"/>
                </a:solidFill>
              </a:rPr>
              <a:t>.</a:t>
            </a:r>
            <a:endParaRPr lang="en-GB" sz="2400"/>
          </a:p>
        </p:txBody>
      </p:sp>
      <p:sp>
        <p:nvSpPr>
          <p:cNvPr id="6" name="Reflowed text"/>
          <p:cNvSpPr txBox="1"/>
          <p:nvPr/>
        </p:nvSpPr>
        <p:spPr>
          <a:xfrm>
            <a:off x="731520" y="4087368"/>
            <a:ext cx="10607040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It is fast and consistent, but these results do not guarantee clinical performance.</a:t>
            </a:r>
            <a:endParaRPr lang="en-GB" sz="2400"/>
          </a:p>
        </p:txBody>
      </p:sp>
      <p:sp>
        <p:nvSpPr>
          <p:cNvPr id="7" name="Reflowed text"/>
          <p:cNvSpPr txBox="1"/>
          <p:nvPr/>
        </p:nvSpPr>
        <p:spPr>
          <a:xfrm>
            <a:off x="731520" y="5230368"/>
            <a:ext cx="1060704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0">
                <a:solidFill>
                  <a:srgbClr val="283038"/>
                </a:solidFill>
                <a:latin typeface="Aptos"/>
              </a:defRPr>
            </a:pPr>
            <a:r>
              <a:rPr sz="2300" b="0">
                <a:solidFill>
                  <a:srgbClr val="283038"/>
                </a:solidFill>
              </a:rPr>
              <a:t>Use predictions to support clinical assessment, not replace a clinician or make diagnoses independently.</a:t>
            </a:r>
            <a:endParaRPr lang="en-SE" sz="23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 Display"/>
              </a:defRPr>
            </a:pPr>
            <a:r>
              <a:rPr lang="en-GB" sz="3000" b="1" dirty="0"/>
              <a:t>What I would not trust it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81328"/>
            <a:ext cx="10698480" cy="1307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500" b="1">
                <a:solidFill>
                  <a:srgbClr val="1C2F4A"/>
                </a:solidFill>
                <a:latin typeface="Aptos"/>
              </a:defRPr>
            </a:pPr>
            <a:r>
              <a:rPr lang="en-GB" sz="2500" b="1">
                <a:solidFill>
                  <a:srgbClr val="1C2F4A"/>
                </a:solidFill>
              </a:rPr>
              <a:t>I would not trust the model to make medical diagnoses independently. Logistic regression missed 3 of 42 malignant cases, while </a:t>
            </a:r>
            <a:r>
              <a:rPr lang="en-GB" sz="2500" b="1" err="1">
                <a:solidFill>
                  <a:srgbClr val="1C2F4A"/>
                </a:solidFill>
              </a:rPr>
              <a:t>kNN</a:t>
            </a:r>
            <a:r>
              <a:rPr lang="en-GB" sz="2500" b="1">
                <a:solidFill>
                  <a:srgbClr val="1C2F4A"/>
                </a:solidFill>
              </a:rPr>
              <a:t> missed 4.</a:t>
            </a:r>
            <a:endParaRPr lang="en-GB" sz="2400"/>
          </a:p>
        </p:txBody>
      </p:sp>
      <p:sp>
        <p:nvSpPr>
          <p:cNvPr id="4" name="Reflowed text"/>
          <p:cNvSpPr txBox="1"/>
          <p:nvPr/>
        </p:nvSpPr>
        <p:spPr>
          <a:xfrm>
            <a:off x="731520" y="2980944"/>
            <a:ext cx="10698480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 dirty="0">
                <a:solidFill>
                  <a:srgbClr val="283038"/>
                </a:solidFill>
              </a:rPr>
              <a:t>A missed malignancy can be more serious than a false alarm. Real-world use would require a larger, more diverse dataset and external validation.</a:t>
            </a:r>
            <a:endParaRPr lang="en-GB" sz="2400" dirty="0"/>
          </a:p>
        </p:txBody>
      </p:sp>
      <p:sp>
        <p:nvSpPr>
          <p:cNvPr id="5" name="Reflowed text"/>
          <p:cNvSpPr txBox="1"/>
          <p:nvPr/>
        </p:nvSpPr>
        <p:spPr>
          <a:xfrm>
            <a:off x="731520" y="4178808"/>
            <a:ext cx="10698480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>
                <a:solidFill>
                  <a:srgbClr val="283038"/>
                </a:solidFill>
              </a:rPr>
              <a:t>I would be cautious about applying the model to patients from different hospitals, scanners, or demographic groups, because differences in data distribution could reduce performance.</a:t>
            </a:r>
            <a:endParaRPr lang="en-GB" sz="2400"/>
          </a:p>
        </p:txBody>
      </p:sp>
      <p:sp>
        <p:nvSpPr>
          <p:cNvPr id="6" name="Reflowed text"/>
          <p:cNvSpPr txBox="1"/>
          <p:nvPr/>
        </p:nvSpPr>
        <p:spPr>
          <a:xfrm>
            <a:off x="731520" y="5404104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100" b="0">
                <a:solidFill>
                  <a:srgbClr val="283038"/>
                </a:solidFill>
                <a:latin typeface="Aptos"/>
              </a:defRPr>
            </a:pPr>
            <a:r>
              <a:rPr sz="2100" b="0">
                <a:solidFill>
                  <a:srgbClr val="283038"/>
                </a:solidFill>
              </a:rPr>
              <a:t>I would not interpret model coefficients as evidence of causation. A larger radius may be associated with malignancy, but this does not mean it causes malignancy.</a:t>
            </a:r>
            <a:endParaRPr lang="en-SE" sz="2100" b="0">
              <a:solidFill>
                <a:srgbClr val="28303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/>
              <a:t>What surprised me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53896"/>
            <a:ext cx="10698480" cy="1417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300" b="1">
                <a:solidFill>
                  <a:srgbClr val="1C2F4A"/>
                </a:solidFill>
                <a:latin typeface="Aptos"/>
              </a:defRPr>
            </a:pPr>
            <a:r>
              <a:rPr lang="en-GB" sz="2300" b="1">
                <a:solidFill>
                  <a:srgbClr val="1C2F4A"/>
                </a:solidFill>
              </a:rPr>
              <a:t>Logistic regression slightly outperformed the more flexible </a:t>
            </a:r>
            <a:r>
              <a:rPr lang="en-GB" sz="2300" b="1" err="1">
                <a:solidFill>
                  <a:srgbClr val="1C2F4A"/>
                </a:solidFill>
              </a:rPr>
              <a:t>kNN</a:t>
            </a:r>
            <a:r>
              <a:rPr lang="en-GB" sz="2300" b="1">
                <a:solidFill>
                  <a:srgbClr val="1C2F4A"/>
                </a:solidFill>
              </a:rPr>
              <a:t> model: 96.49% versus 95.61% accuracy. Its malignant-class recall was also higher (0.93 versus 0.90). I expected the more flexible model to do better.</a:t>
            </a:r>
          </a:p>
        </p:txBody>
      </p:sp>
      <p:sp>
        <p:nvSpPr>
          <p:cNvPr id="5" name="Reflowed text"/>
          <p:cNvSpPr txBox="1"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High accuracy alone does not tell the whole story; recall matters when identifying malignant cases.</a:t>
            </a:r>
          </a:p>
        </p:txBody>
      </p:sp>
      <p:sp>
        <p:nvSpPr>
          <p:cNvPr id="6" name="Reflowed text"/>
          <p:cNvSpPr txBox="1"/>
          <p:nvPr/>
        </p:nvSpPr>
        <p:spPr>
          <a:xfrm>
            <a:off x="731520" y="4005072"/>
            <a:ext cx="10698480" cy="10332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Training error did not rise smoothly with k: it went from 0.000 at k=1 to 0.026 at k=2, then fell to 0.015 at k=3. Tied neighbour votes may contribute to this irregularity. </a:t>
            </a:r>
          </a:p>
        </p:txBody>
      </p:sp>
      <p:sp>
        <p:nvSpPr>
          <p:cNvPr id="7" name="Reflowed text"/>
          <p:cNvSpPr txBox="1"/>
          <p:nvPr/>
        </p:nvSpPr>
        <p:spPr>
          <a:xfrm>
            <a:off x="731520" y="5276088"/>
            <a:ext cx="10698480" cy="667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 dirty="0">
                <a:solidFill>
                  <a:srgbClr val="283038"/>
                </a:solidFill>
              </a:rPr>
              <a:t>Logistic regression was best in this experiment; k=5 or k=7 gave the lowest observed </a:t>
            </a:r>
            <a:r>
              <a:rPr lang="en-GB" sz="2050" b="0" dirty="0" err="1">
                <a:solidFill>
                  <a:srgbClr val="283038"/>
                </a:solidFill>
              </a:rPr>
              <a:t>kNN</a:t>
            </a:r>
            <a:r>
              <a:rPr lang="en-GB" sz="2050" b="0" dirty="0">
                <a:solidFill>
                  <a:srgbClr val="283038"/>
                </a:solidFill>
              </a:rPr>
              <a:t> test error.</a:t>
            </a:r>
          </a:p>
        </p:txBody>
      </p:sp>
      <p:sp>
        <p:nvSpPr>
          <p:cNvPr id="8" name="Reflowed text"/>
          <p:cNvSpPr txBox="1"/>
          <p:nvPr/>
        </p:nvSpPr>
        <p:spPr>
          <a:xfrm>
            <a:off x="731520" y="6135624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  <a:defRPr sz="2050" b="0">
                <a:solidFill>
                  <a:srgbClr val="283038"/>
                </a:solidFill>
                <a:latin typeface="Aptos"/>
              </a:defRPr>
            </a:pPr>
            <a:r>
              <a:rPr lang="en-GB" sz="2050" b="0">
                <a:solidFill>
                  <a:srgbClr val="283038"/>
                </a:solidFill>
              </a:rPr>
              <a:t>Results come from one train–test split, so further validation is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A844-412D-5A22-AB53-711BFA33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DFDFC7-80F4-D2D9-0165-C2C51C90381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2056F-DA2F-8E41-D097-6A2BDC0CA17B}"/>
              </a:ext>
            </a:extLst>
          </p:cNvPr>
          <p:cNvSpPr txBox="1"/>
          <p:nvPr/>
        </p:nvSpPr>
        <p:spPr>
          <a:xfrm>
            <a:off x="731520" y="438912"/>
            <a:ext cx="107442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F4A"/>
                </a:solidFill>
                <a:latin typeface="Aptos"/>
              </a:defRPr>
            </a:pPr>
            <a:r>
              <a:rPr lang="en-GB" sz="3000" b="1" dirty="0"/>
              <a:t>Conclusion</a:t>
            </a:r>
          </a:p>
        </p:txBody>
      </p:sp>
      <p:sp>
        <p:nvSpPr>
          <p:cNvPr id="6" name="Reflowed text">
            <a:extLst>
              <a:ext uri="{FF2B5EF4-FFF2-40B4-BE49-F238E27FC236}">
                <a16:creationId xmlns:a16="http://schemas.microsoft.com/office/drawing/2014/main" id="{BCF1E88B-F44C-93A7-2E90-DB3ADC9161BE}"/>
              </a:ext>
            </a:extLst>
          </p:cNvPr>
          <p:cNvSpPr txBox="1"/>
          <p:nvPr/>
        </p:nvSpPr>
        <p:spPr>
          <a:xfrm>
            <a:off x="564742" y="1271016"/>
            <a:ext cx="10698480" cy="34505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400" dirty="0"/>
              <a:t>L</a:t>
            </a:r>
            <a:r>
              <a:rPr lang="en-SE" sz="2400" dirty="0" err="1"/>
              <a:t>ogistic</a:t>
            </a:r>
            <a:r>
              <a:rPr lang="en-SE" sz="2400" dirty="0"/>
              <a:t> regression performed best in this experiment, while </a:t>
            </a:r>
            <a:r>
              <a:rPr lang="en-SE" sz="2400" dirty="0" err="1"/>
              <a:t>kNN's</a:t>
            </a:r>
            <a:r>
              <a:rPr lang="en-SE" sz="2400" dirty="0"/>
              <a:t> performance depended on the choice of k. </a:t>
            </a:r>
            <a:endParaRPr lang="en-GB" sz="2400" dirty="0"/>
          </a:p>
          <a:p>
            <a:endParaRPr lang="en-GB" sz="2400" dirty="0"/>
          </a:p>
          <a:p>
            <a:r>
              <a:rPr lang="en-SE" sz="2400" dirty="0"/>
              <a:t>Both the algorithm and its complexity affect prediction performance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283038"/>
                </a:solidFill>
              </a:rPr>
              <a:t>Results came from one train–test split, so </a:t>
            </a:r>
            <a:r>
              <a:rPr lang="en-SE" sz="2400" dirty="0"/>
              <a:t>further validation would be needed before drawing conclusions about real-world clinical use. </a:t>
            </a:r>
          </a:p>
        </p:txBody>
      </p:sp>
    </p:spTree>
    <p:extLst>
      <p:ext uri="{BB962C8B-B14F-4D97-AF65-F5344CB8AC3E}">
        <p14:creationId xmlns:p14="http://schemas.microsoft.com/office/powerpoint/2010/main" val="257173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FD14-090A-D9E6-0818-1CBE8B48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1BAE8-6796-D218-A993-EC69CB579A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527C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Picture 13" descr="The image depicts a comparison between benign tumors, malignant tumors, and normal cells, illustrating the differences in cell structure and organization.&#10;&#10;AI-generated content may be incorrect.">
            <a:extLst>
              <a:ext uri="{FF2B5EF4-FFF2-40B4-BE49-F238E27FC236}">
                <a16:creationId xmlns:a16="http://schemas.microsoft.com/office/drawing/2014/main" id="{D1DD6F68-33C7-8F10-021E-4EB11FD880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9619" y="-1"/>
            <a:ext cx="10832456" cy="69183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79E4EA-BF32-F88C-108F-FCE316B84DEA}"/>
              </a:ext>
            </a:extLst>
          </p:cNvPr>
          <p:cNvSpPr txBox="1"/>
          <p:nvPr/>
        </p:nvSpPr>
        <p:spPr>
          <a:xfrm>
            <a:off x="46007" y="1734772"/>
            <a:ext cx="12191694" cy="6205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ptos"/>
              </a:defRPr>
            </a:pPr>
            <a:r>
              <a:rPr lang="en-GB" sz="8000" b="1" dirty="0">
                <a:solidFill>
                  <a:srgbClr val="000000"/>
                </a:solidFill>
              </a:rPr>
              <a:t>Thank you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74277-042E-6F71-CBF5-3B808C58600F}"/>
              </a:ext>
            </a:extLst>
          </p:cNvPr>
          <p:cNvSpPr txBox="1"/>
          <p:nvPr/>
        </p:nvSpPr>
        <p:spPr>
          <a:xfrm>
            <a:off x="46007" y="3450451"/>
            <a:ext cx="12138633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000000"/>
                </a:solidFill>
                <a:latin typeface="Aptos"/>
              </a:defRPr>
            </a:pPr>
            <a:r>
              <a:rPr lang="en-GB" sz="6600" b="0" dirty="0">
                <a:solidFill>
                  <a:srgbClr val="000000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5981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860</Words>
  <Application>Microsoft Office PowerPoint</Application>
  <PresentationFormat>Widescreen</PresentationFormat>
  <Paragraphs>90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Onyinyechi Sonia Bäckström</cp:lastModifiedBy>
  <cp:revision>4</cp:revision>
  <dcterms:created xsi:type="dcterms:W3CDTF">2013-01-27T09:14:16Z</dcterms:created>
  <dcterms:modified xsi:type="dcterms:W3CDTF">2026-10-12T06:14:50Z</dcterms:modified>
  <cp:category/>
</cp:coreProperties>
</file>